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OFPITCH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7DB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10528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40" kern="0" dirty="0">
                <a:solidFill>
                  <a:srgbClr val="58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PROOFPITCH · AI BUILDERS 2026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235440" y="6510528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spc="120" kern="0" dirty="0">
                <a:solidFill>
                  <a:srgbClr val="58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SUBMISSION CANDIDATE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5860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5860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14188769700lbk-dev/proofpitch" TargetMode="External"/><Relationship Id="rId2" Type="http://schemas.openxmlformats.org/officeDocument/2006/relationships/hyperlink" Target="https://youtu.be/Z6wc1sby9Vo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B7E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PROOFPITCH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21792" y="91440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before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560320"/>
            <a:ext cx="4709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6D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agent that grounds every claim, exposes gaps, and blocks hard scam signals before a human decides.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373075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B7EC00"/>
          </a:solidFill>
          <a:ln w="12700">
            <a:solidFill>
              <a:srgbClr val="B7EC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799332"/>
            <a:ext cx="2139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SAAS PRODUCT CANDIDATE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090672" y="3730752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26335D"/>
          </a:solidFill>
          <a:ln w="12700">
            <a:solidFill>
              <a:srgbClr val="2633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63824" y="3799332"/>
            <a:ext cx="1911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REPO + DEMO VIDEO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760720" y="685800"/>
            <a:ext cx="5806440" cy="5102352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0160">
            <a:solidFill>
              <a:srgbClr val="CCD1C8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pic>
        <p:nvPicPr>
          <p:cNvPr id="10" name="Image 0" descr="D:\m-codex\proofpitch\docs\workspace.png">    </p:cNvPr>
          <p:cNvPicPr>
            <a:picLocks noChangeAspect="1"/>
          </p:cNvPicPr>
          <p:nvPr/>
        </p:nvPicPr>
        <p:blipFill>
          <a:blip r:embed="rId1"/>
          <a:srcRect l="0" r="0" t="6160" b="6160"/>
          <a:stretch/>
        </p:blipFill>
        <p:spPr>
          <a:xfrm>
            <a:off x="5806440" y="731520"/>
            <a:ext cx="5715000" cy="501091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053328" y="5212080"/>
            <a:ext cx="5212080" cy="749808"/>
          </a:xfrm>
          <a:prstGeom prst="roundRect">
            <a:avLst>
              <a:gd name="adj" fmla="val 12195"/>
            </a:avLst>
          </a:prstGeom>
          <a:solidFill>
            <a:srgbClr val="B7EC00"/>
          </a:solidFill>
          <a:ln w="12700">
            <a:solidFill>
              <a:srgbClr val="B7EC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91072" y="5440680"/>
            <a:ext cx="473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Truthful drafting · visible gaps · human control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58368" y="598017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EB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Builders Hackathon 2026 · local submission candidate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5860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20" kern="0" dirty="0">
                <a:solidFill>
                  <a:srgbClr val="58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volume creates a trust problem.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8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thesis: help applicants move faster without inventing experience or ignoring obvious risk.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1792" y="1874520"/>
            <a:ext cx="3456432" cy="3383280"/>
          </a:xfrm>
          <a:prstGeom prst="roundRect">
            <a:avLst>
              <a:gd name="adj" fmla="val 3243"/>
            </a:avLst>
          </a:prstGeom>
          <a:solidFill>
            <a:srgbClr val="FFF1D8"/>
          </a:solidFill>
          <a:ln w="11430">
            <a:solidFill>
              <a:srgbClr val="FFF1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208483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37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0392" y="274320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inflate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50392" y="3310128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8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drafting can turn willingness to learn into experience that does not exist.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50392" y="4754880"/>
            <a:ext cx="2697480" cy="0"/>
          </a:xfrm>
          <a:prstGeom prst="line">
            <a:avLst/>
          </a:prstGeom>
          <a:noFill/>
          <a:ln w="31750">
            <a:solidFill>
              <a:srgbClr val="B374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43984" y="1874520"/>
            <a:ext cx="3456432" cy="3383280"/>
          </a:xfrm>
          <a:prstGeom prst="roundRect">
            <a:avLst>
              <a:gd name="adj" fmla="val 3243"/>
            </a:avLst>
          </a:prstGeom>
          <a:solidFill>
            <a:srgbClr val="FBE9E6"/>
          </a:solidFill>
          <a:ln w="11430">
            <a:solidFill>
              <a:srgbClr val="FBE9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72584" y="208483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72584" y="274320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hides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72584" y="3310128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8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Upfront payment, crypto, and off-platform contact can be lost inside a fast workflow.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72584" y="4754880"/>
            <a:ext cx="2697480" cy="0"/>
          </a:xfrm>
          <a:prstGeom prst="line">
            <a:avLst/>
          </a:prstGeom>
          <a:noFill/>
          <a:ln w="31750">
            <a:solidFill>
              <a:srgbClr val="A83B3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66176" y="1874520"/>
            <a:ext cx="3456432" cy="3383280"/>
          </a:xfrm>
          <a:prstGeom prst="roundRect">
            <a:avLst>
              <a:gd name="adj" fmla="val 3243"/>
            </a:avLst>
          </a:prstGeom>
          <a:solidFill>
            <a:srgbClr val="EFF9C9"/>
          </a:solidFill>
          <a:ln w="11430">
            <a:solidFill>
              <a:srgbClr val="EFF9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94776" y="208483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94776" y="274320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fragments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494776" y="3310128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8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Listings, portfolios, risk checks, and drafts live in separate mental tabs.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494776" y="4754880"/>
            <a:ext cx="2697480" cy="0"/>
          </a:xfrm>
          <a:prstGeom prst="line">
            <a:avLst/>
          </a:prstGeom>
          <a:noFill/>
          <a:ln w="31750">
            <a:solidFill>
              <a:srgbClr val="0A16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163056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58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product hypotheses illustrated by synthetic fixtures—not measured market statistics.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5860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20" kern="0" dirty="0">
                <a:solidFill>
                  <a:srgbClr val="58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reviewable decision, not another writing box.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8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stage leaves evidence for the next stage—and the risk gate can stop the workflow.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2084832" cy="106070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1430">
            <a:solidFill>
              <a:srgbClr val="CCD1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057400"/>
            <a:ext cx="384048" cy="384048"/>
          </a:xfrm>
          <a:prstGeom prst="ellipse">
            <a:avLst/>
          </a:prstGeom>
          <a:solidFill>
            <a:srgbClr val="B7EC00"/>
          </a:solidFill>
          <a:ln w="12700">
            <a:solidFill>
              <a:srgbClr val="B7EC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13512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07592" y="2039112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07592" y="2350008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8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a listing into explicit, typed requirements.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52928" y="1874520"/>
            <a:ext cx="2084832" cy="106070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1430">
            <a:solidFill>
              <a:srgbClr val="CCD1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17520" y="2057400"/>
            <a:ext cx="384048" cy="384048"/>
          </a:xfrm>
          <a:prstGeom prst="ellipse">
            <a:avLst/>
          </a:prstGeom>
          <a:solidFill>
            <a:srgbClr val="B7EC00"/>
          </a:solidFill>
          <a:ln w="12700">
            <a:solidFill>
              <a:srgbClr val="B7E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213512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20440" y="2039112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2350008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8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only public artifacts supplied to the run.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65776" y="1874520"/>
            <a:ext cx="2084832" cy="106070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1430">
            <a:solidFill>
              <a:srgbClr val="CCD1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30368" y="2057400"/>
            <a:ext cx="384048" cy="384048"/>
          </a:xfrm>
          <a:prstGeom prst="ellipse">
            <a:avLst/>
          </a:prstGeom>
          <a:solidFill>
            <a:srgbClr val="B7EC00"/>
          </a:solidFill>
          <a:ln w="12700">
            <a:solidFill>
              <a:srgbClr val="B7EC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30368" y="213512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733288" y="2039112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733288" y="2350008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8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payment, crypto, suspicious checks, and off-platform-only contact.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278624" y="1874520"/>
            <a:ext cx="2084832" cy="106070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1430">
            <a:solidFill>
              <a:srgbClr val="CCD1C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43216" y="2057400"/>
            <a:ext cx="384048" cy="384048"/>
          </a:xfrm>
          <a:prstGeom prst="ellipse">
            <a:avLst/>
          </a:prstGeom>
          <a:solidFill>
            <a:srgbClr val="B7EC00"/>
          </a:solidFill>
          <a:ln w="12700">
            <a:solidFill>
              <a:srgbClr val="B7EC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43216" y="213512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946136" y="2039112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946136" y="2350008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8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 supported evidence and preserve every gap.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491472" y="1874520"/>
            <a:ext cx="2084832" cy="106070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1430">
            <a:solidFill>
              <a:srgbClr val="CCD1C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56064" y="2057400"/>
            <a:ext cx="384048" cy="384048"/>
          </a:xfrm>
          <a:prstGeom prst="ellipse">
            <a:avLst/>
          </a:prstGeom>
          <a:solidFill>
            <a:srgbClr val="B7EC00"/>
          </a:solidFill>
          <a:ln w="12700">
            <a:solidFill>
              <a:srgbClr val="B7EC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56064" y="213512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158984" y="2039112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158984" y="2350008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8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result local until a human approves.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24912" y="2203704"/>
            <a:ext cx="128016" cy="329184"/>
          </a:xfrm>
          <a:prstGeom prst="chevron">
            <a:avLst/>
          </a:prstGeom>
          <a:solidFill>
            <a:srgbClr val="0A1638"/>
          </a:solidFill>
          <a:ln w="12700">
            <a:solidFill>
              <a:srgbClr val="0A163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37760" y="2203704"/>
            <a:ext cx="128016" cy="329184"/>
          </a:xfrm>
          <a:prstGeom prst="chevron">
            <a:avLst/>
          </a:prstGeom>
          <a:solidFill>
            <a:srgbClr val="0A1638"/>
          </a:solidFill>
          <a:ln w="12700">
            <a:solidFill>
              <a:srgbClr val="0A163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50608" y="2203704"/>
            <a:ext cx="128016" cy="329184"/>
          </a:xfrm>
          <a:prstGeom prst="chevron">
            <a:avLst/>
          </a:prstGeom>
          <a:solidFill>
            <a:srgbClr val="0A1638"/>
          </a:solidFill>
          <a:ln w="12700">
            <a:solidFill>
              <a:srgbClr val="0A163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63456" y="2203704"/>
            <a:ext cx="128016" cy="329184"/>
          </a:xfrm>
          <a:prstGeom prst="chevron">
            <a:avLst/>
          </a:prstGeom>
          <a:solidFill>
            <a:srgbClr val="0A1638"/>
          </a:solidFill>
          <a:ln w="12700">
            <a:solidFill>
              <a:srgbClr val="0A163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" y="3401568"/>
            <a:ext cx="6400800" cy="1508760"/>
          </a:xfrm>
          <a:prstGeom prst="roundRect">
            <a:avLst>
              <a:gd name="adj" fmla="val 7273"/>
            </a:avLst>
          </a:prstGeom>
          <a:solidFill>
            <a:srgbClr val="EFF9C9"/>
          </a:solidFill>
          <a:ln w="11430">
            <a:solidFill>
              <a:srgbClr val="B7EC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365760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58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OR CAVEATED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914400" y="404164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draft + visible gaps</a:t>
            </a:r>
            <a:endParaRPr lang="en-US" sz="1900" dirty="0"/>
          </a:p>
        </p:txBody>
      </p:sp>
      <p:sp>
        <p:nvSpPr>
          <p:cNvPr id="37" name="Shape 35"/>
          <p:cNvSpPr/>
          <p:nvPr/>
        </p:nvSpPr>
        <p:spPr>
          <a:xfrm>
            <a:off x="7296912" y="3401568"/>
            <a:ext cx="4251960" cy="1508760"/>
          </a:xfrm>
          <a:prstGeom prst="roundRect">
            <a:avLst>
              <a:gd name="adj" fmla="val 7273"/>
            </a:avLst>
          </a:prstGeom>
          <a:solidFill>
            <a:srgbClr val="FBE9E6"/>
          </a:solidFill>
          <a:ln w="11430">
            <a:solidFill>
              <a:srgbClr val="D8898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71232" y="365760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A8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RISK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571232" y="404164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A8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withheld · approval blocked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566928" y="6163056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58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sending is intentionally absent from the current product boundary.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5860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20" kern="0" dirty="0">
                <a:solidFill>
                  <a:srgbClr val="58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GROUNDING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gap stays a gap.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8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ProofPitch links supported requirements to public artifacts and labels unsupported requirements instead of smoothing them over.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7635240" cy="4096512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0160">
            <a:solidFill>
              <a:srgbClr val="CCD1C8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D:\m-codex\proofpitch\docs\workspace.png">    </p:cNvPr>
          <p:cNvPicPr>
            <a:picLocks noChangeAspect="1"/>
          </p:cNvPicPr>
          <p:nvPr/>
        </p:nvPicPr>
        <p:blipFill>
          <a:blip r:embed="rId1"/>
          <a:srcRect l="0" r="0" t="23455" b="23455"/>
          <a:stretch/>
        </p:blipFill>
        <p:spPr>
          <a:xfrm>
            <a:off x="685800" y="1828800"/>
            <a:ext cx="7543800" cy="40050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77072" y="1783080"/>
            <a:ext cx="2971800" cy="4096512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1430">
            <a:solidFill>
              <a:srgbClr val="CCD1C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887968" y="2084832"/>
            <a:ext cx="2331720" cy="310896"/>
          </a:xfrm>
          <a:prstGeom prst="roundRect">
            <a:avLst>
              <a:gd name="adj" fmla="val 23529"/>
            </a:avLst>
          </a:prstGeom>
          <a:solidFill>
            <a:srgbClr val="EFF9C9"/>
          </a:solidFill>
          <a:ln w="12700">
            <a:solidFill>
              <a:srgbClr val="EFF9C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61120" y="2153412"/>
            <a:ext cx="2185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WITH CAVEAT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8887968" y="2834640"/>
            <a:ext cx="128016" cy="128016"/>
          </a:xfrm>
          <a:prstGeom prst="ellipse">
            <a:avLst/>
          </a:prstGeom>
          <a:solidFill>
            <a:srgbClr val="B7EC00"/>
          </a:solidFill>
          <a:ln w="12700">
            <a:solidFill>
              <a:srgbClr val="B7EC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0" y="27614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+ FastAPI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144000" y="303580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8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from supplied public work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8887968" y="3621024"/>
            <a:ext cx="128016" cy="128016"/>
          </a:xfrm>
          <a:prstGeom prst="ellipse">
            <a:avLst/>
          </a:prstGeom>
          <a:solidFill>
            <a:srgbClr val="B7EC00"/>
          </a:solidFill>
          <a:ln w="12700">
            <a:solidFill>
              <a:srgbClr val="B7EC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0" y="35478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AI docs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9144000" y="3822192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8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from reviewable artifacts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8887968" y="4407408"/>
            <a:ext cx="128016" cy="128016"/>
          </a:xfrm>
          <a:prstGeom prst="ellipse">
            <a:avLst/>
          </a:prstGeom>
          <a:solidFill>
            <a:srgbClr val="B37416"/>
          </a:solidFill>
          <a:ln w="12700">
            <a:solidFill>
              <a:srgbClr val="B3741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0" y="433425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9144000" y="4608576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8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public evidence → disclose gap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887968" y="52852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draft can say “I would ramp up.”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cannot say “I have experience.”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5860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20" kern="0" dirty="0">
                <a:solidFill>
                  <a:srgbClr val="58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GATE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risk means no draft.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8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risk output is a required input to drafting—not a warning that can be ignored downstream.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2971800" cy="3794760"/>
          </a:xfrm>
          <a:prstGeom prst="roundRect">
            <a:avLst>
              <a:gd name="adj" fmla="val 3692"/>
            </a:avLst>
          </a:prstGeom>
          <a:solidFill>
            <a:srgbClr val="FBE9E6"/>
          </a:solidFill>
          <a:ln w="11430">
            <a:solidFill>
              <a:srgbClr val="D8898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212848"/>
            <a:ext cx="2331720" cy="310896"/>
          </a:xfrm>
          <a:prstGeom prst="roundRect">
            <a:avLst>
              <a:gd name="adj" fmla="val 23529"/>
            </a:avLst>
          </a:prstGeom>
          <a:solidFill>
            <a:srgbClr val="A83B34"/>
          </a:solidFill>
          <a:ln w="12700">
            <a:solidFill>
              <a:srgbClr val="A83B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281428"/>
            <a:ext cx="2185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APPLY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960120" y="2907792"/>
            <a:ext cx="237744" cy="237744"/>
          </a:xfrm>
          <a:prstGeom prst="ellipse">
            <a:avLst/>
          </a:prstGeom>
          <a:solidFill>
            <a:srgbClr val="A83B34"/>
          </a:solidFill>
          <a:ln w="12700">
            <a:solidFill>
              <a:srgbClr val="A83B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92150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53312" y="289864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A8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Upfront payment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60120" y="3529584"/>
            <a:ext cx="237744" cy="237744"/>
          </a:xfrm>
          <a:prstGeom prst="ellipse">
            <a:avLst/>
          </a:prstGeom>
          <a:solidFill>
            <a:srgbClr val="A83B34"/>
          </a:solidFill>
          <a:ln w="12700">
            <a:solidFill>
              <a:srgbClr val="A83B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543300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53312" y="35204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A8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transfer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60120" y="4151376"/>
            <a:ext cx="237744" cy="237744"/>
          </a:xfrm>
          <a:prstGeom prst="ellipse">
            <a:avLst/>
          </a:prstGeom>
          <a:solidFill>
            <a:srgbClr val="A83B34"/>
          </a:solidFill>
          <a:ln w="12700">
            <a:solidFill>
              <a:srgbClr val="A83B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16509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53312" y="414223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A8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Off-platform-only contact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60120" y="48646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30" kern="0" dirty="0">
                <a:solidFill>
                  <a:srgbClr val="58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60120" y="51023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A8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withheld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A8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blocked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913632" y="1874520"/>
            <a:ext cx="763524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0160">
            <a:solidFill>
              <a:srgbClr val="CCD1C8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pic>
        <p:nvPicPr>
          <p:cNvPr id="20" name="Image 0" descr="D:\m-codex\proofpitch\docs\risk-blocked.png">    </p:cNvPr>
          <p:cNvPicPr>
            <a:picLocks noChangeAspect="1"/>
          </p:cNvPicPr>
          <p:nvPr/>
        </p:nvPicPr>
        <p:blipFill>
          <a:blip r:embed="rId1"/>
          <a:srcRect l="0" r="0" t="25455" b="25455"/>
          <a:stretch/>
        </p:blipFill>
        <p:spPr>
          <a:xfrm>
            <a:off x="3959352" y="1920240"/>
            <a:ext cx="7543800" cy="37033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66928" y="6163056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58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screenshot uses synthetic fixtures; no employer is contacted and no payment data is transmitted.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5860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20" kern="0" dirty="0">
                <a:solidFill>
                  <a:srgbClr val="58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tools, one explicit dependency chain.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8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credential-free replay lets judges reproduce the workflow; an optional Bedrock path exists but is not claimed as executed.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901952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1430">
            <a:solidFill>
              <a:srgbClr val="CCD1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211226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30" kern="0" dirty="0">
                <a:solidFill>
                  <a:srgbClr val="58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77824" y="24323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workspace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7824" y="276148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8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listing + public evidence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670048" y="2313432"/>
            <a:ext cx="164592" cy="347472"/>
          </a:xfrm>
          <a:prstGeom prst="chevron">
            <a:avLst/>
          </a:prstGeom>
          <a:solidFill>
            <a:srgbClr val="0A1638"/>
          </a:solidFill>
          <a:ln w="12700">
            <a:solidFill>
              <a:srgbClr val="0A16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0" y="1901952"/>
            <a:ext cx="1572768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1430">
            <a:solidFill>
              <a:srgbClr val="CCD1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36392" y="211226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30" kern="0" dirty="0">
                <a:solidFill>
                  <a:srgbClr val="58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136392" y="243230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36392" y="2761488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8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request + response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590288" y="2313432"/>
            <a:ext cx="164592" cy="347472"/>
          </a:xfrm>
          <a:prstGeom prst="chevron">
            <a:avLst/>
          </a:prstGeom>
          <a:solidFill>
            <a:srgbClr val="0A1638"/>
          </a:solidFill>
          <a:ln w="12700">
            <a:solidFill>
              <a:srgbClr val="0A16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0" y="1783080"/>
            <a:ext cx="6693408" cy="2212848"/>
          </a:xfrm>
          <a:prstGeom prst="roundRect">
            <a:avLst>
              <a:gd name="adj" fmla="val 4959"/>
            </a:avLst>
          </a:prstGeom>
          <a:solidFill>
            <a:srgbClr val="F0F2F6"/>
          </a:solidFill>
          <a:ln w="11430">
            <a:solidFill>
              <a:srgbClr val="CCD1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38928" y="19751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40" kern="0" dirty="0">
                <a:solidFill>
                  <a:srgbClr val="58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STRANDS AGENTS SDK TOOL REGISTRY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138928" y="2377440"/>
            <a:ext cx="1353312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1430">
            <a:solidFill>
              <a:srgbClr val="CCD1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66944" y="2624328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Parse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266944" y="3026664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8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listing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6528816" y="2761488"/>
            <a:ext cx="118872" cy="274320"/>
          </a:xfrm>
          <a:prstGeom prst="chevron">
            <a:avLst/>
          </a:prstGeom>
          <a:solidFill>
            <a:srgbClr val="0A1638"/>
          </a:solidFill>
          <a:ln w="12700">
            <a:solidFill>
              <a:srgbClr val="0A16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93408" y="2377440"/>
            <a:ext cx="1353312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1430">
            <a:solidFill>
              <a:srgbClr val="CCD1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21424" y="2624328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Match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821424" y="3026664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8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evidence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8083296" y="2761488"/>
            <a:ext cx="118872" cy="274320"/>
          </a:xfrm>
          <a:prstGeom prst="chevron">
            <a:avLst/>
          </a:prstGeom>
          <a:solidFill>
            <a:srgbClr val="0A1638"/>
          </a:solidFill>
          <a:ln w="12700">
            <a:solidFill>
              <a:srgbClr val="0A163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47888" y="2377440"/>
            <a:ext cx="1353312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1430">
            <a:solidFill>
              <a:srgbClr val="CCD1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75904" y="2624328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Risk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375904" y="3026664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8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Hard-signal gate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9637776" y="2761488"/>
            <a:ext cx="118872" cy="274320"/>
          </a:xfrm>
          <a:prstGeom prst="chevron">
            <a:avLst/>
          </a:prstGeom>
          <a:solidFill>
            <a:srgbClr val="0A1638"/>
          </a:solidFill>
          <a:ln w="12700">
            <a:solidFill>
              <a:srgbClr val="0A163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02368" y="2377440"/>
            <a:ext cx="1353312" cy="1115568"/>
          </a:xfrm>
          <a:prstGeom prst="roundRect">
            <a:avLst>
              <a:gd name="adj" fmla="val 9836"/>
            </a:avLst>
          </a:prstGeom>
          <a:solidFill>
            <a:srgbClr val="EFF9C9"/>
          </a:solidFill>
          <a:ln w="11430">
            <a:solidFill>
              <a:srgbClr val="B7EC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30384" y="2624328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Draft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930384" y="3026664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8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Risk-aware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658368" y="3703320"/>
            <a:ext cx="3840480" cy="1426464"/>
          </a:xfrm>
          <a:prstGeom prst="roundRect">
            <a:avLst>
              <a:gd name="adj" fmla="val 7692"/>
            </a:avLst>
          </a:prstGeom>
          <a:solidFill>
            <a:srgbClr val="0A1638"/>
          </a:solidFill>
          <a:ln w="11430">
            <a:solidFill>
              <a:srgbClr val="0A16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2688" y="394106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B7E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REPLAY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932688" y="431596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Credential-free and deterministic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32688" y="4700016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6D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live path: same tools through a Strands model loop with Amazon Bedrock.</a:t>
            </a:r>
            <a:endParaRPr lang="en-US" sz="740" dirty="0"/>
          </a:p>
        </p:txBody>
      </p:sp>
      <p:sp>
        <p:nvSpPr>
          <p:cNvPr id="36" name="Shape 34"/>
          <p:cNvSpPr/>
          <p:nvPr/>
        </p:nvSpPr>
        <p:spPr>
          <a:xfrm>
            <a:off x="4846320" y="4315968"/>
            <a:ext cx="2880360" cy="932688"/>
          </a:xfrm>
          <a:prstGeom prst="roundRect">
            <a:avLst>
              <a:gd name="adj" fmla="val 11765"/>
            </a:avLst>
          </a:prstGeom>
          <a:solidFill>
            <a:srgbClr val="EFF9C9"/>
          </a:solidFill>
          <a:ln w="11430">
            <a:solidFill>
              <a:srgbClr val="B7EC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02352" y="451713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58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OR CAVEATED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102352" y="4809744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draft + visible gaps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973568" y="4315968"/>
            <a:ext cx="3566160" cy="932688"/>
          </a:xfrm>
          <a:prstGeom prst="roundRect">
            <a:avLst>
              <a:gd name="adj" fmla="val 11765"/>
            </a:avLst>
          </a:prstGeom>
          <a:solidFill>
            <a:srgbClr val="FBE9E6"/>
          </a:solidFill>
          <a:ln w="11430">
            <a:solidFill>
              <a:srgbClr val="D8898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0" y="451713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A8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RISK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8229600" y="4809744"/>
            <a:ext cx="2871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A8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withheld · approval blocked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549640" y="3493008"/>
            <a:ext cx="0" cy="274320"/>
          </a:xfrm>
          <a:prstGeom prst="line">
            <a:avLst/>
          </a:prstGeom>
          <a:noFill/>
          <a:ln w="17780">
            <a:solidFill>
              <a:srgbClr val="0A163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09360" y="3767328"/>
            <a:ext cx="3355848" cy="0"/>
          </a:xfrm>
          <a:prstGeom prst="line">
            <a:avLst/>
          </a:prstGeom>
          <a:noFill/>
          <a:ln w="17780">
            <a:solidFill>
              <a:srgbClr val="0A163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09360" y="3767328"/>
            <a:ext cx="0" cy="548640"/>
          </a:xfrm>
          <a:prstGeom prst="line">
            <a:avLst/>
          </a:prstGeom>
          <a:noFill/>
          <a:ln w="17780">
            <a:solidFill>
              <a:srgbClr val="0A1638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9665208" y="3767328"/>
            <a:ext cx="0" cy="548640"/>
          </a:xfrm>
          <a:prstGeom prst="line">
            <a:avLst/>
          </a:prstGeom>
          <a:noFill/>
          <a:ln w="17780">
            <a:solidFill>
              <a:srgbClr val="A83B34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804672" y="5513832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E7EBF6"/>
          </a:solidFill>
          <a:ln w="12700">
            <a:solidFill>
              <a:srgbClr val="E7EB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7824" y="5582412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1828800" y="5513832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E7EBF6"/>
          </a:solidFill>
          <a:ln w="12700">
            <a:solidFill>
              <a:srgbClr val="E7EB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01952" y="5582412"/>
            <a:ext cx="950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3035808" y="5513832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EFF9C9"/>
          </a:solidFill>
          <a:ln w="12700">
            <a:solidFill>
              <a:srgbClr val="EFF9C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108960" y="5582412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STRANDS SDK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562856" y="5513832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E7EBF6"/>
          </a:solidFill>
          <a:ln w="12700">
            <a:solidFill>
              <a:srgbClr val="E7EBF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36008" y="5582412"/>
            <a:ext cx="1042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861304" y="5513832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E7EBF6"/>
          </a:solidFill>
          <a:ln w="12700">
            <a:solidFill>
              <a:srgbClr val="E7EBF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934456" y="5582412"/>
            <a:ext cx="9052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7022592" y="5513832"/>
            <a:ext cx="1024128" cy="310896"/>
          </a:xfrm>
          <a:prstGeom prst="roundRect">
            <a:avLst>
              <a:gd name="adj" fmla="val 23529"/>
            </a:avLst>
          </a:prstGeom>
          <a:solidFill>
            <a:srgbClr val="E7EBF6"/>
          </a:solidFill>
          <a:ln w="12700">
            <a:solidFill>
              <a:srgbClr val="E7EBF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95744" y="5582412"/>
            <a:ext cx="877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5860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20" kern="0" dirty="0">
                <a:solidFill>
                  <a:srgbClr val="58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CONTROL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autonomy has a hard edge.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8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can prepare a review record; it cannot impersonate the applicant or create an irreversible external action.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783080"/>
            <a:ext cx="5349240" cy="4041648"/>
          </a:xfrm>
          <a:prstGeom prst="roundRect">
            <a:avLst>
              <a:gd name="adj" fmla="val 2715"/>
            </a:avLst>
          </a:prstGeom>
          <a:solidFill>
            <a:srgbClr val="EFF9C9"/>
          </a:solidFill>
          <a:ln w="11430">
            <a:solidFill>
              <a:srgbClr val="B7EC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" y="2103120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B7EC00"/>
          </a:solidFill>
          <a:ln w="12700">
            <a:solidFill>
              <a:srgbClr val="B7EC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2171700"/>
            <a:ext cx="1426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CAN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987552" y="2807208"/>
            <a:ext cx="128016" cy="128016"/>
          </a:xfrm>
          <a:prstGeom prst="ellipse">
            <a:avLst/>
          </a:prstGeom>
          <a:solidFill>
            <a:srgbClr val="B7EC00"/>
          </a:solidFill>
          <a:ln w="12700">
            <a:solidFill>
              <a:srgbClr val="B7EC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61872" y="2779776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a synthetic or supplied listing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87552" y="3246120"/>
            <a:ext cx="128016" cy="128016"/>
          </a:xfrm>
          <a:prstGeom prst="ellipse">
            <a:avLst/>
          </a:prstGeom>
          <a:solidFill>
            <a:srgbClr val="B7EC00"/>
          </a:solidFill>
          <a:ln w="12700">
            <a:solidFill>
              <a:srgbClr val="B7EC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61872" y="3218688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claims to named public evidence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87552" y="3685032"/>
            <a:ext cx="128016" cy="128016"/>
          </a:xfrm>
          <a:prstGeom prst="ellipse">
            <a:avLst/>
          </a:prstGeom>
          <a:solidFill>
            <a:srgbClr val="B7EC00"/>
          </a:solidFill>
          <a:ln w="12700">
            <a:solidFill>
              <a:srgbClr val="B7EC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61872" y="365760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 unsupported requirements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87552" y="4123944"/>
            <a:ext cx="128016" cy="128016"/>
          </a:xfrm>
          <a:prstGeom prst="ellipse">
            <a:avLst/>
          </a:prstGeom>
          <a:solidFill>
            <a:srgbClr val="B7EC00"/>
          </a:solidFill>
          <a:ln w="12700">
            <a:solidFill>
              <a:srgbClr val="B7EC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61872" y="4096512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hard risk signals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87552" y="4562856"/>
            <a:ext cx="128016" cy="128016"/>
          </a:xfrm>
          <a:prstGeom prst="ellipse">
            <a:avLst/>
          </a:prstGeom>
          <a:solidFill>
            <a:srgbClr val="B7EC00"/>
          </a:solidFill>
          <a:ln w="12700">
            <a:solidFill>
              <a:srgbClr val="B7EC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61872" y="45354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or withhold a draft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87552" y="5001768"/>
            <a:ext cx="128016" cy="128016"/>
          </a:xfrm>
          <a:prstGeom prst="ellipse">
            <a:avLst/>
          </a:prstGeom>
          <a:solidFill>
            <a:srgbClr val="B7EC00"/>
          </a:solidFill>
          <a:ln w="12700">
            <a:solidFill>
              <a:srgbClr val="B7EC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61872" y="4974336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a local human decision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1783080"/>
            <a:ext cx="5321808" cy="4041648"/>
          </a:xfrm>
          <a:prstGeom prst="roundRect">
            <a:avLst>
              <a:gd name="adj" fmla="val 2715"/>
            </a:avLst>
          </a:prstGeom>
          <a:solidFill>
            <a:srgbClr val="FBE9E6"/>
          </a:solidFill>
          <a:ln w="11430">
            <a:solidFill>
              <a:srgbClr val="D8898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28816" y="2103120"/>
            <a:ext cx="1810512" cy="310896"/>
          </a:xfrm>
          <a:prstGeom prst="roundRect">
            <a:avLst>
              <a:gd name="adj" fmla="val 23529"/>
            </a:avLst>
          </a:prstGeom>
          <a:solidFill>
            <a:srgbClr val="A83B34"/>
          </a:solidFill>
          <a:ln w="12700">
            <a:solidFill>
              <a:srgbClr val="A83B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01968" y="2171700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CANNOT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547104" y="2788920"/>
            <a:ext cx="155448" cy="155448"/>
          </a:xfrm>
          <a:prstGeom prst="ellipse">
            <a:avLst/>
          </a:prstGeom>
          <a:solidFill>
            <a:srgbClr val="A83B34"/>
          </a:solidFill>
          <a:ln w="12700">
            <a:solidFill>
              <a:srgbClr val="A83B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47104" y="2784348"/>
            <a:ext cx="155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821424" y="2779776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A8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 experience or conceal a gap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47104" y="3227832"/>
            <a:ext cx="155448" cy="155448"/>
          </a:xfrm>
          <a:prstGeom prst="ellipse">
            <a:avLst/>
          </a:prstGeom>
          <a:solidFill>
            <a:srgbClr val="A83B34"/>
          </a:solidFill>
          <a:ln w="12700">
            <a:solidFill>
              <a:srgbClr val="A83B3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47104" y="3223260"/>
            <a:ext cx="155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821424" y="321868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A8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an application or message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547104" y="3666744"/>
            <a:ext cx="155448" cy="155448"/>
          </a:xfrm>
          <a:prstGeom prst="ellipse">
            <a:avLst/>
          </a:prstGeom>
          <a:solidFill>
            <a:srgbClr val="A83B34"/>
          </a:solidFill>
          <a:ln w="12700">
            <a:solidFill>
              <a:srgbClr val="A83B3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47104" y="3662172"/>
            <a:ext cx="155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821424" y="365760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A8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an employer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547104" y="4105656"/>
            <a:ext cx="155448" cy="155448"/>
          </a:xfrm>
          <a:prstGeom prst="ellipse">
            <a:avLst/>
          </a:prstGeom>
          <a:solidFill>
            <a:srgbClr val="A83B34"/>
          </a:solidFill>
          <a:ln w="12700">
            <a:solidFill>
              <a:srgbClr val="A83B3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47104" y="4101084"/>
            <a:ext cx="155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821424" y="409651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A8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Transmit payment or identity data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547104" y="4544568"/>
            <a:ext cx="155448" cy="155448"/>
          </a:xfrm>
          <a:prstGeom prst="ellipse">
            <a:avLst/>
          </a:prstGeom>
          <a:solidFill>
            <a:srgbClr val="A83B34"/>
          </a:solidFill>
          <a:ln w="12700">
            <a:solidFill>
              <a:srgbClr val="A83B3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47104" y="4539996"/>
            <a:ext cx="155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821424" y="453542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A8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Override a hard risk block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547104" y="4983480"/>
            <a:ext cx="155448" cy="155448"/>
          </a:xfrm>
          <a:prstGeom prst="ellipse">
            <a:avLst/>
          </a:prstGeom>
          <a:solidFill>
            <a:srgbClr val="A83B34"/>
          </a:solidFill>
          <a:ln w="12700">
            <a:solidFill>
              <a:srgbClr val="A83B3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47104" y="4978908"/>
            <a:ext cx="155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821424" y="4974336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A8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local approval into an external send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66928" y="6163056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58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boundary is deliberate product behavior, not an unimplemented promise of autonomous sending.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5860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20" kern="0" dirty="0">
                <a:solidFill>
                  <a:srgbClr val="58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 READINESS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Judges can inspect the product today.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8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current evidence is technical—not a claim of customers, deployment, or commercial traction.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847088"/>
            <a:ext cx="2487168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1430">
            <a:solidFill>
              <a:srgbClr val="CCD1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2130552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59536" y="2743200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3127248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8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Core, API, and agent-tool behavior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438144" y="1847088"/>
            <a:ext cx="2487168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1430">
            <a:solidFill>
              <a:srgbClr val="CCD1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9312" y="2130552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639312" y="2743200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registered tools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94176" y="3127248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8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· match · risk · draft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217920" y="1847088"/>
            <a:ext cx="2487168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1430">
            <a:solidFill>
              <a:srgbClr val="CCD1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2130552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2:49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419088" y="2743200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demo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73952" y="3127248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8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local UI and API path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997696" y="1847088"/>
            <a:ext cx="2487168" cy="1965960"/>
          </a:xfrm>
          <a:prstGeom prst="roundRect">
            <a:avLst>
              <a:gd name="adj" fmla="val 5581"/>
            </a:avLst>
          </a:prstGeom>
          <a:solidFill>
            <a:srgbClr val="FBE9E6"/>
          </a:solidFill>
          <a:ln w="11430">
            <a:solidFill>
              <a:srgbClr val="D8898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98864" y="2130552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8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198864" y="2743200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sends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253728" y="3127248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8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Human-controlled boundary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58368" y="4187952"/>
            <a:ext cx="10863072" cy="1298448"/>
          </a:xfrm>
          <a:prstGeom prst="roundRect">
            <a:avLst>
              <a:gd name="adj" fmla="val 8451"/>
            </a:avLst>
          </a:prstGeom>
          <a:solidFill>
            <a:srgbClr val="0A1638"/>
          </a:solidFill>
          <a:ln w="11430">
            <a:solidFill>
              <a:srgbClr val="0A16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4572000"/>
            <a:ext cx="292608" cy="292608"/>
          </a:xfrm>
          <a:prstGeom prst="ellipse">
            <a:avLst/>
          </a:prstGeom>
          <a:solidFill>
            <a:srgbClr val="B7EC00"/>
          </a:solidFill>
          <a:ln w="12700">
            <a:solidFill>
              <a:srgbClr val="B7EC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62686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335024" y="455371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production build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520440" y="4572000"/>
            <a:ext cx="292608" cy="292608"/>
          </a:xfrm>
          <a:prstGeom prst="ellipse">
            <a:avLst/>
          </a:prstGeom>
          <a:solidFill>
            <a:srgbClr val="B7EC00"/>
          </a:solidFill>
          <a:ln w="12700">
            <a:solidFill>
              <a:srgbClr val="B7EC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0440" y="462686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941064" y="455371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build in CI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126480" y="4572000"/>
            <a:ext cx="292608" cy="292608"/>
          </a:xfrm>
          <a:prstGeom prst="ellipse">
            <a:avLst/>
          </a:prstGeom>
          <a:solidFill>
            <a:srgbClr val="B7EC00"/>
          </a:solidFill>
          <a:ln w="12700">
            <a:solidFill>
              <a:srgbClr val="B7EC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462686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547104" y="455371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Apache-2.0 public repository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732520" y="4572000"/>
            <a:ext cx="292608" cy="292608"/>
          </a:xfrm>
          <a:prstGeom prst="ellipse">
            <a:avLst/>
          </a:prstGeom>
          <a:solidFill>
            <a:srgbClr val="B7EC00"/>
          </a:solidFill>
          <a:ln w="12700">
            <a:solidFill>
              <a:srgbClr val="B7EC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32520" y="462686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9153144" y="455371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reproducible fixtures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66928" y="6163056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58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counts are based on the current local repository; re-run before any external submission.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5860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20" kern="0" dirty="0">
                <a:solidFill>
                  <a:srgbClr val="58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PATH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applicants. Expand through trust.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8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user and business model below are hypotheses to validate—not current customers or revenue.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3346704" cy="3584448"/>
          </a:xfrm>
          <a:prstGeom prst="roundRect">
            <a:avLst>
              <a:gd name="adj" fmla="val 3279"/>
            </a:avLst>
          </a:prstGeom>
          <a:solidFill>
            <a:srgbClr val="EFF9C9"/>
          </a:solidFill>
          <a:ln w="11430">
            <a:solidFill>
              <a:srgbClr val="B7EC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03120"/>
            <a:ext cx="566928" cy="566928"/>
          </a:xfrm>
          <a:prstGeom prst="ellipse">
            <a:avLst/>
          </a:prstGeom>
          <a:solidFill>
            <a:srgbClr val="B7EC00"/>
          </a:solidFill>
          <a:ln w="12700">
            <a:solidFill>
              <a:srgbClr val="B7EC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5856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developers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2788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Evidence-first review for roles and freelance work.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4773168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B7EC00"/>
          </a:solidFill>
          <a:ln w="12700">
            <a:solidFill>
              <a:srgbClr val="B7EC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4841748"/>
            <a:ext cx="1179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361688" y="1828800"/>
            <a:ext cx="3346704" cy="3584448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1430">
            <a:solidFill>
              <a:srgbClr val="CCD1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2103120"/>
            <a:ext cx="566928" cy="566928"/>
          </a:xfrm>
          <a:prstGeom prst="ellipse">
            <a:avLst/>
          </a:prstGeom>
          <a:solidFill>
            <a:srgbClr val="0A1638"/>
          </a:solidFill>
          <a:ln w="12700">
            <a:solidFill>
              <a:srgbClr val="0A16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225856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17720" y="29718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support teams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17720" y="3657600"/>
            <a:ext cx="2788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Shared, reviewable evidence and safety workspaces.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4773168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E7EBF6"/>
          </a:solidFill>
          <a:ln w="12700">
            <a:solidFill>
              <a:srgbClr val="E7EB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90872" y="4841748"/>
            <a:ext cx="1179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SEAT-BASED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8065008" y="1828800"/>
            <a:ext cx="3346704" cy="3584448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1430">
            <a:solidFill>
              <a:srgbClr val="CCD1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1040" y="2103120"/>
            <a:ext cx="566928" cy="566928"/>
          </a:xfrm>
          <a:prstGeom prst="ellipse">
            <a:avLst/>
          </a:prstGeom>
          <a:solidFill>
            <a:srgbClr val="0A1638"/>
          </a:solidFill>
          <a:ln w="12700">
            <a:solidFill>
              <a:srgbClr val="0A16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225856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21040" y="29718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platforms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321040" y="3657600"/>
            <a:ext cx="2788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grounded-review and hard-risk API layer.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321040" y="4773168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E7EBF6"/>
          </a:solidFill>
          <a:ln w="12700">
            <a:solidFill>
              <a:srgbClr val="E7EB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94192" y="4841748"/>
            <a:ext cx="1179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API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66928" y="6163056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58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pricing, willingness-to-pay, retention, or acquisition claim has been validated yet.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5860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20" kern="0" dirty="0">
                <a:solidFill>
                  <a:srgbClr val="B7E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EXISTS NOW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51206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working, inspectable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product loop.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76656" y="25420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30" kern="0" dirty="0">
                <a:solidFill>
                  <a:srgbClr val="AEB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800" dirty="0"/>
          </a:p>
        </p:txBody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676656" y="28163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github.com/14188769700lbk-dev/proofpitch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76656" y="34015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30" kern="0" dirty="0">
                <a:solidFill>
                  <a:srgbClr val="AEB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800" dirty="0"/>
          </a:p>
        </p:txBody>
      </p:sp>
      <p:sp>
        <p:nvSpPr>
          <p:cNvPr id="7" name="Text 5">
            <a:hlinkClick r:id="rId2" tooltip=""/>
          </p:cNvPr>
          <p:cNvSpPr/>
          <p:nvPr/>
        </p:nvSpPr>
        <p:spPr>
          <a:xfrm>
            <a:off x="676656" y="367588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youtu.be/Z6wc1sby9Vo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36208" y="713232"/>
            <a:ext cx="5303520" cy="4983480"/>
          </a:xfrm>
          <a:prstGeom prst="roundRect">
            <a:avLst>
              <a:gd name="adj" fmla="val 2202"/>
            </a:avLst>
          </a:prstGeom>
          <a:solidFill>
            <a:srgbClr val="172348"/>
          </a:solidFill>
          <a:ln w="11430">
            <a:solidFill>
              <a:srgbClr val="3845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01968" y="107899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B7EC00"/>
          </a:solidFill>
          <a:ln w="12700">
            <a:solidFill>
              <a:srgbClr val="B7EC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1147572"/>
            <a:ext cx="1453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0A1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VALIDATION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620256" y="1856232"/>
            <a:ext cx="128016" cy="128016"/>
          </a:xfrm>
          <a:prstGeom prst="ellipse">
            <a:avLst/>
          </a:prstGeom>
          <a:solidFill>
            <a:srgbClr val="B7EC00"/>
          </a:solidFill>
          <a:ln w="12700">
            <a:solidFill>
              <a:srgbClr val="B7E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12864" y="1828800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real review behavior with consent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6620256" y="2386584"/>
            <a:ext cx="128016" cy="128016"/>
          </a:xfrm>
          <a:prstGeom prst="ellipse">
            <a:avLst/>
          </a:prstGeom>
          <a:solidFill>
            <a:srgbClr val="B7EC00"/>
          </a:solidFill>
          <a:ln w="12700">
            <a:solidFill>
              <a:srgbClr val="B7EC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12864" y="2359152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whether evidence links improve trust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6620256" y="2916936"/>
            <a:ext cx="128016" cy="128016"/>
          </a:xfrm>
          <a:prstGeom prst="ellipse">
            <a:avLst/>
          </a:prstGeom>
          <a:solidFill>
            <a:srgbClr val="B7EC00"/>
          </a:solidFill>
          <a:ln w="12700">
            <a:solidFill>
              <a:srgbClr val="B7EC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12864" y="288950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willingness to pay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620256" y="3447288"/>
            <a:ext cx="128016" cy="128016"/>
          </a:xfrm>
          <a:prstGeom prst="ellipse">
            <a:avLst/>
          </a:prstGeom>
          <a:solidFill>
            <a:srgbClr val="B7EC00"/>
          </a:solidFill>
          <a:ln w="12700">
            <a:solidFill>
              <a:srgbClr val="B7EC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12864" y="3419856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hosted access and privacy controls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6620256" y="3977640"/>
            <a:ext cx="128016" cy="128016"/>
          </a:xfrm>
          <a:prstGeom prst="ellipse">
            <a:avLst/>
          </a:prstGeom>
          <a:solidFill>
            <a:srgbClr val="B7EC00"/>
          </a:solidFill>
          <a:ln w="12700">
            <a:solidFill>
              <a:srgbClr val="B7EC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12864" y="3950208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employer identity before any handoff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6620256" y="4727448"/>
            <a:ext cx="4261104" cy="0"/>
          </a:xfrm>
          <a:prstGeom prst="line">
            <a:avLst/>
          </a:prstGeom>
          <a:noFill/>
          <a:ln w="12700">
            <a:solidFill>
              <a:srgbClr val="4A56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0256" y="492861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B7E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disclosure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620256" y="5212080"/>
            <a:ext cx="4261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D6D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Primarily generated and iterated by OpenAI Codex under the solo entrant’s authorization. No customers, revenue, production deployment, or unverified AWS execution is claimed.</a:t>
            </a:r>
            <a:endParaRPr lang="en-US" sz="770" dirty="0"/>
          </a:p>
        </p:txBody>
      </p:sp>
      <p:sp>
        <p:nvSpPr>
          <p:cNvPr id="24" name="Text 22"/>
          <p:cNvSpPr/>
          <p:nvPr/>
        </p:nvSpPr>
        <p:spPr>
          <a:xfrm>
            <a:off x="676656" y="601675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AEB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BUILDERS 2026 · BEST SAAS PRODUCT CANDIDATE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5860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Independent submission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ProofPitch — Evidence before applications</dc:title>
  <dc:subject>AI Builders Hackathon 2026 submission deck</dc:subject>
  <dc:creator>ProofPitch</dc:creator>
  <cp:lastModifiedBy>ProofPitch</cp:lastModifiedBy>
  <cp:revision>1</cp:revision>
  <dcterms:created xsi:type="dcterms:W3CDTF">2026-08-31T05:20:06Z</dcterms:created>
  <dcterms:modified xsi:type="dcterms:W3CDTF">2026-08-31T05:20:06Z</dcterms:modified>
</cp:coreProperties>
</file>